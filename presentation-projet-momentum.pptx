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59" d="100"/>
          <a:sy n="59" d="100"/>
        </p:scale>
        <p:origin x="26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Rendement futur moyen (%)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E3D-2B44-8BC8-2EB609389617}"/>
              </c:ext>
            </c:extLst>
          </c:dPt>
          <c:dPt>
            <c:idx val="1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E3D-2B44-8BC8-2EB609389617}"/>
              </c:ext>
            </c:extLst>
          </c:dPt>
          <c:dPt>
            <c:idx val="2"/>
            <c:invertIfNegative val="0"/>
            <c:bubble3D val="0"/>
            <c:spPr>
              <a:solidFill>
                <a:srgbClr val="D645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E3D-2B44-8BC8-2EB609389617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Faible momentum</c:v>
                </c:pt>
                <c:pt idx="1">
                  <c:v>Moyen</c:v>
                </c:pt>
                <c:pt idx="2">
                  <c:v>Fort momentum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9.4600000000000009</c:v>
                </c:pt>
                <c:pt idx="1">
                  <c:v>8.6199999999999992</c:v>
                </c:pt>
                <c:pt idx="2">
                  <c:v>5.18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E3D-2B44-8BC8-2EB60938961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Rendement futur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Rendement futur moyen (%)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AFE-8B48-A534-62A974040A3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AFE-8B48-A534-62A974040A3F}"/>
              </c:ext>
            </c:extLst>
          </c:dPt>
          <c:dPt>
            <c:idx val="2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AFE-8B48-A534-62A974040A3F}"/>
              </c:ext>
            </c:extLst>
          </c:dPt>
          <c:dPt>
            <c:idx val="3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AFE-8B48-A534-62A974040A3F}"/>
              </c:ext>
            </c:extLst>
          </c:dPt>
          <c:dPt>
            <c:idx val="4"/>
            <c:invertIfNegative val="0"/>
            <c:bubble3D val="0"/>
            <c:spPr>
              <a:solidFill>
                <a:srgbClr val="D645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AFE-8B48-A534-62A974040A3F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Q1 faible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 fort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8.66</c:v>
                </c:pt>
                <c:pt idx="2">
                  <c:v>6.74</c:v>
                </c:pt>
                <c:pt idx="3">
                  <c:v>7.83</c:v>
                </c:pt>
                <c:pt idx="4">
                  <c:v>5.22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AFE-8B48-A534-62A974040A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Rendement futur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Arial"/>
              </a:rPr>
              <a:t>Le modèle bat-il une prédiction naïve ?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Erreur absolue moyenne (MAE)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A76-C643-A741-1ECA19139E25}"/>
              </c:ext>
            </c:extLst>
          </c:dPt>
          <c:dPt>
            <c:idx val="1"/>
            <c:invertIfNegative val="0"/>
            <c:bubble3D val="0"/>
            <c:spPr>
              <a:solidFill>
                <a:srgbClr val="D645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A76-C643-A741-1ECA19139E25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Baseline
(moyenne naïve)</c:v>
                </c:pt>
                <c:pt idx="1">
                  <c:v>Modèle
(momentum)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10.95</c:v>
                </c:pt>
                <c:pt idx="1">
                  <c:v>10.28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A76-C643-A741-1ECA19139E2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MAE (points de 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Rendement futur moyen (%)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5EA-0044-ADB8-D825FA2A01D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5EA-0044-ADB8-D825FA2A01D4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C5EA-0044-ADB8-D825FA2A01D4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C5EA-0044-ADB8-D825FA2A01D4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C5EA-0044-ADB8-D825FA2A01D4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Q1 faible vol.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 forte vol.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10.38</c:v>
                </c:pt>
                <c:pt idx="1">
                  <c:v>5.45</c:v>
                </c:pt>
                <c:pt idx="2">
                  <c:v>6.06</c:v>
                </c:pt>
                <c:pt idx="3">
                  <c:v>9.14</c:v>
                </c:pt>
                <c:pt idx="4">
                  <c:v>7.43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5EA-0044-ADB8-D825FA2A01D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Rendement futur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3545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Momentum et rendements</a:t>
            </a:r>
            <a:endParaRPr lang="en-US" sz="4000" dirty="0"/>
          </a:p>
          <a:p>
            <a:pPr marL="0" indent="0" algn="l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boursiers futurs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703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étude de factor investing sur un panier d'actions du CAC 40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46634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personnel — Machine Learning appliqué à la finance quantitative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factor investing : une question simple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25880" y="1508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qu'un facteur 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9202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caractéristique mesurable d'une action censée expliquer, au moins en partie, ses rendements futurs.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25880" y="2971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facteur étudié : le momentum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33832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action qui a bien performé récemment continue-t-elle sur sa lancée 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434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25880" y="4389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question précise posée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48006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rendement des 6 derniers mois prédit-il, même partiellement, le rendement des 6 mois suivants 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49440" y="1554480"/>
            <a:ext cx="4572000" cy="3566160"/>
          </a:xfrm>
          <a:prstGeom prst="roundRect">
            <a:avLst>
              <a:gd name="adj" fmla="val 3077"/>
            </a:avLst>
          </a:prstGeom>
          <a:solidFill>
            <a:srgbClr val="F4F6FB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0" y="17830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de l'analyse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223760" y="2514600"/>
            <a:ext cx="1371600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7223760" y="2514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mois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passés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823960" y="2606040"/>
            <a:ext cx="274320" cy="27432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0" name="Text 18"/>
          <p:cNvSpPr/>
          <p:nvPr/>
        </p:nvSpPr>
        <p:spPr>
          <a:xfrm>
            <a:off x="8823960" y="2606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326880" y="2514600"/>
            <a:ext cx="13716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9326880" y="2514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mois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23760" y="3108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momentum_6m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326880" y="3108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future_return_6m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223760" y="361188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mesurer si la variable de gauche permet de prédire celle de droite, sans jamais utiliser une information non disponible à la date 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Données et méthodologie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02920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18562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actions du CAC 40, secteurs variés : luxe, énergie, banque, santé, industrie, tech...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97880" y="1600200"/>
            <a:ext cx="502920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172200" y="1874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1722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12280" y="18562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172200" y="246888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– 2024, prix de clôture quotidiens (yfinance), 1283 jours de cotation, 0 valeur manquante.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502920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4114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63040" y="40965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rigoureux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470916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lignes sans momentum passé ou rendement futur sont supprimées, jamais estimées : éviter tout look-ahead bias.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97880" y="3840480"/>
            <a:ext cx="502920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</p:spPr>
      </p:sp>
      <p:sp>
        <p:nvSpPr>
          <p:cNvPr id="19" name="Shape 17"/>
          <p:cNvSpPr/>
          <p:nvPr/>
        </p:nvSpPr>
        <p:spPr>
          <a:xfrm>
            <a:off x="6172200" y="4114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12280" y="40965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Découpage train/test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72200" y="470916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Chronologique, pas aléatoire : entraînement avant juillet 2022, test après — pour ne jamais mélanger passé et futur.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Premier signal : un effet de retour à la moyenne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 initial de 6 actions — rendement futur moyen par tertile de momentum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45920"/>
          <a:ext cx="66751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73736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7498080" y="18745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-0,18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772400" y="27889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 momentum / rendement futur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98080" y="374904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 : les actions les plus montées récemment tendent ensuite à moins bien performer — un effet de retour à la moyenne, plutôt qu'un momentum classique.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Mettre le signal à l'épreuve d'un panier plus large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actions, secteurs diversifiés — rendement futur moyen par quintile de momentum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45920"/>
          <a:ext cx="66751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73736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7498080" y="18745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-0,053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772400" y="27889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 sur le panier élargi (contre -0,18 sur 6 actions)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98080" y="37947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signal s'atténue mais ne disparaît pas : un échantillon plus large et diversifié révèle un effet plus modeste, donc plus crédible.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constat statistique au modèle prédictif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120640" cy="1005840"/>
          </a:xfrm>
          <a:prstGeom prst="roundRect">
            <a:avLst>
              <a:gd name="adj" fmla="val 9091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rendement futur prédit = 7,53 − 0,093 × momentum_6m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linéaire simple, entraînée sur les données avant juillet 2022, évaluée sur les données après juillet 2022 (jamais vues pendant l'entraînement).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7033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3611880"/>
            <a:ext cx="4434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0,019 : le momentum seul explique environ 2 % de la variation des rendements futurs. Faible, mais attendu en finance — un R² élevé serait même suspect.</a:t>
            </a:r>
            <a:endParaRPr lang="en-US" sz="12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6126480" y="1371600"/>
          <a:ext cx="53949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Comparer à un second facteur : la volatilité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panier de 20 actions — rendement futur moyen par quintile de volatilité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45920"/>
          <a:ext cx="66751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73736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7498080" y="18745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+0,069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772400" y="278892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 volatilité / rendement futur — signe opposé à l'anomalie « faible volatilité » attendue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98080" y="406908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tendance régulière entre quintiles : sur cet échantillon, la volatilité n'apporte pas de signal clair — contrairement au momentum.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Regarder les résultats avec lucidité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02920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737360"/>
            <a:ext cx="457200" cy="45720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6916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Non-indépendance des observations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même choc de marché (ex. Covid) est compté plusieurs fois à travers les actions et les fenêtres temporelles qui se chevauchent : la p-value du test t est probablement optimiste.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97880" y="1463040"/>
            <a:ext cx="502920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172200" y="1737360"/>
            <a:ext cx="457200" cy="45720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0" name="Text 8"/>
          <p:cNvSpPr/>
          <p:nvPr/>
        </p:nvSpPr>
        <p:spPr>
          <a:xfrm>
            <a:off x="61722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12280" y="16916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Facteurs étudiés séparément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172200" y="237744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et volatilité n'ont pas été combinés dans un modèle unique testant leur apport conjoint.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502920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3977640"/>
            <a:ext cx="457200" cy="45720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39319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Échantillon limité dans le temps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22960" y="461772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ans de données : trop court pour trancher définitivement sur des effets qui se manifestent parfois sur plusieurs décennies.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97880" y="3703320"/>
            <a:ext cx="502920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</p:spPr>
      </p:sp>
      <p:sp>
        <p:nvSpPr>
          <p:cNvPr id="19" name="Shape 17"/>
          <p:cNvSpPr/>
          <p:nvPr/>
        </p:nvSpPr>
        <p:spPr>
          <a:xfrm>
            <a:off x="6172200" y="3977640"/>
            <a:ext cx="457200" cy="45720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12280" y="39319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Coûts de transaction ignorés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172200" y="461772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stratégie réelle fondée sur ce signal serait moins rentable en pratique qu'en théorie, une fois les frais pris en compte.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ce projet démontre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0881360" cy="1920240"/>
          </a:xfrm>
          <a:prstGeom prst="roundRect">
            <a:avLst>
              <a:gd name="adj" fmla="val 4762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17320"/>
            <a:ext cx="10241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signal de retour à la moyenne à 6 mois, faible mais réel, identifié et confirmé à travers cinq méthodes différentes (corrélation, tri par groupes, régression, comparaison à une baseline, comparaison à un second facteur) et sur deux échelles d'échantillon — en assumant honnêtement ses limites plutôt qu'en les dissimulant.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611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 envisagées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11480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408736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Combiner momentum et volatilité dans un modèle multivarié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80060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800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477316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la robustesse sur une période plus longue ou un panier encore plus large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733</Words>
  <Application>Microsoft Macintosh PowerPoint</Application>
  <PresentationFormat>Grand écran</PresentationFormat>
  <Paragraphs>90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Samuel NASSAM</cp:lastModifiedBy>
  <cp:revision>2</cp:revision>
  <dcterms:created xsi:type="dcterms:W3CDTF">2026-08-22T12:59:04Z</dcterms:created>
  <dcterms:modified xsi:type="dcterms:W3CDTF">2026-08-22T18:50:57Z</dcterms:modified>
</cp:coreProperties>
</file>